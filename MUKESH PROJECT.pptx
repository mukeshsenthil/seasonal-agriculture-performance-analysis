
<file path=[Content_Types].xml><?xml version="1.0" encoding="utf-8"?>
<Types xmlns="http://schemas.openxmlformats.org/package/2006/content-types">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74"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983422-76C8-4256-8C86-10F683242B18}" v="5" dt="2026-09-09T04:32:02.089"/>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55780" y="4572747"/>
            <a:ext cx="5156636" cy="646331"/>
          </a:xfrm>
          <a:prstGeom prst="rect">
            <a:avLst/>
          </a:prstGeom>
          <a:noFill/>
        </p:spPr>
        <p:txBody>
          <a:bodyPr wrap="square" rtlCol="0">
            <a:spAutoFit/>
          </a:bodyPr>
          <a:lstStyle/>
          <a:p>
            <a:r>
              <a:rPr lang="en-US" b="1" dirty="0"/>
              <a:t>AICTE STU ID : STU6a24238adb39f1780753290</a:t>
            </a:r>
          </a:p>
        </p:txBody>
      </p:sp>
      <p:sp>
        <p:nvSpPr>
          <p:cNvPr id="7" name="Text Placeholder 6">
            <a:extLst>
              <a:ext uri="{FF2B5EF4-FFF2-40B4-BE49-F238E27FC236}">
                <a16:creationId xmlns:a16="http://schemas.microsoft.com/office/drawing/2014/main" id="{B74233F8-FE4C-422D-8608-205A5403D318}"/>
              </a:ext>
            </a:extLst>
          </p:cNvPr>
          <p:cNvSpPr>
            <a:spLocks noGrp="1"/>
          </p:cNvSpPr>
          <p:nvPr>
            <p:ph type="body" sz="quarter" idx="11"/>
          </p:nvPr>
        </p:nvSpPr>
        <p:spPr/>
        <p:txBody>
          <a:bodyPr/>
          <a:lstStyle/>
          <a:p>
            <a:endParaRPr lang="en-IN"/>
          </a:p>
        </p:txBody>
      </p:sp>
      <p:sp>
        <p:nvSpPr>
          <p:cNvPr id="8" name="TextBox 7">
            <a:extLst>
              <a:ext uri="{FF2B5EF4-FFF2-40B4-BE49-F238E27FC236}">
                <a16:creationId xmlns:a16="http://schemas.microsoft.com/office/drawing/2014/main" id="{F515D299-418E-E22E-2BFE-7CC6ADEA751F}"/>
              </a:ext>
            </a:extLst>
          </p:cNvPr>
          <p:cNvSpPr txBox="1"/>
          <p:nvPr/>
        </p:nvSpPr>
        <p:spPr>
          <a:xfrm>
            <a:off x="755780" y="2958017"/>
            <a:ext cx="5340220" cy="400110"/>
          </a:xfrm>
          <a:prstGeom prst="rect">
            <a:avLst/>
          </a:prstGeom>
          <a:noFill/>
        </p:spPr>
        <p:txBody>
          <a:bodyPr wrap="square" rtlCol="0">
            <a:spAutoFit/>
          </a:bodyPr>
          <a:lstStyle/>
          <a:p>
            <a:r>
              <a:rPr lang="en-IN" sz="2000" dirty="0"/>
              <a:t>Seasonal Agriculture Performance Analysis</a:t>
            </a:r>
          </a:p>
        </p:txBody>
      </p:sp>
      <p:sp>
        <p:nvSpPr>
          <p:cNvPr id="9" name="TextBox 8">
            <a:extLst>
              <a:ext uri="{FF2B5EF4-FFF2-40B4-BE49-F238E27FC236}">
                <a16:creationId xmlns:a16="http://schemas.microsoft.com/office/drawing/2014/main" id="{794CE6DE-CB80-FD26-557D-9CEB1F9F318E}"/>
              </a:ext>
            </a:extLst>
          </p:cNvPr>
          <p:cNvSpPr txBox="1"/>
          <p:nvPr/>
        </p:nvSpPr>
        <p:spPr>
          <a:xfrm>
            <a:off x="755780" y="3598650"/>
            <a:ext cx="5451236" cy="923330"/>
          </a:xfrm>
          <a:prstGeom prst="rect">
            <a:avLst/>
          </a:prstGeom>
          <a:noFill/>
        </p:spPr>
        <p:txBody>
          <a:bodyPr wrap="none" rtlCol="0">
            <a:spAutoFit/>
          </a:bodyPr>
          <a:lstStyle/>
          <a:p>
            <a:r>
              <a:rPr lang="en-IN" dirty="0"/>
              <a:t>MUKESH S</a:t>
            </a:r>
          </a:p>
          <a:p>
            <a:endParaRPr lang="en-IN" dirty="0"/>
          </a:p>
          <a:p>
            <a:r>
              <a:rPr lang="en-IN"/>
              <a:t>KPR INSTITUTE </a:t>
            </a:r>
            <a:r>
              <a:rPr lang="en-IN" dirty="0"/>
              <a:t>OF ENGINEERING AND TECHNOLOGY</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4432027"/>
          </a:xfrm>
        </p:spPr>
        <p:txBody>
          <a:bodyPr vert="horz" lIns="91440" tIns="45720" rIns="91440" bIns="45720" rtlCol="0" anchor="t">
            <a:noAutofit/>
          </a:bodyPr>
          <a:lstStyle/>
          <a:p>
            <a:pPr>
              <a:lnSpc>
                <a:spcPct val="150000"/>
              </a:lnSpc>
            </a:pPr>
            <a:r>
              <a:rPr lang="en-US" sz="1200" dirty="0"/>
              <a:t>Agricultural activities are influenced by seasonal variations in environmental conditions, </a:t>
            </a:r>
          </a:p>
          <a:p>
            <a:pPr>
              <a:lnSpc>
                <a:spcPct val="150000"/>
              </a:lnSpc>
            </a:pPr>
            <a:r>
              <a:rPr lang="en-US" sz="1200" dirty="0"/>
              <a:t>farming practices, resource availability and market conditions. As a result, agricultural </a:t>
            </a:r>
          </a:p>
          <a:p>
            <a:pPr>
              <a:lnSpc>
                <a:spcPct val="150000"/>
              </a:lnSpc>
            </a:pPr>
            <a:r>
              <a:rPr lang="en-US" sz="1200" dirty="0"/>
              <a:t>performance may differ from one season to another. </a:t>
            </a:r>
          </a:p>
          <a:p>
            <a:pPr>
              <a:lnSpc>
                <a:spcPct val="150000"/>
              </a:lnSpc>
            </a:pPr>
            <a:r>
              <a:rPr lang="en-US" sz="1200" dirty="0"/>
              <a:t>However, raw agricultural data does not clearly explain how agricultural performance changes </a:t>
            </a:r>
          </a:p>
          <a:p>
            <a:pPr>
              <a:lnSpc>
                <a:spcPct val="150000"/>
              </a:lnSpc>
            </a:pPr>
            <a:r>
              <a:rPr lang="en-US" sz="1200" dirty="0"/>
              <a:t>across seasons or what patterns can be observed in different seasonal conditions. </a:t>
            </a:r>
          </a:p>
          <a:p>
            <a:pPr>
              <a:lnSpc>
                <a:spcPct val="150000"/>
              </a:lnSpc>
            </a:pPr>
            <a:r>
              <a:rPr lang="en-US" sz="1200" dirty="0"/>
              <a:t>The problem is to analyze the given agricultural dataset and investigate seasonal differences </a:t>
            </a:r>
          </a:p>
          <a:p>
            <a:pPr>
              <a:lnSpc>
                <a:spcPct val="150000"/>
              </a:lnSpc>
            </a:pPr>
            <a:r>
              <a:rPr lang="en-US" sz="1200" dirty="0"/>
              <a:t>in agricultural performance by identifying meaningful patterns, trends, relationships and </a:t>
            </a:r>
          </a:p>
          <a:p>
            <a:pPr>
              <a:lnSpc>
                <a:spcPct val="150000"/>
              </a:lnSpc>
            </a:pPr>
            <a:r>
              <a:rPr lang="en-US" sz="1200" dirty="0"/>
              <a:t>variations within the available data.</a:t>
            </a:r>
            <a:endParaRPr lang="en-IN" sz="12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200" dirty="0"/>
              <a:t>Agricultural performance is affected by seasonal changes in environmental conditions, farming practices, irrigation methods, resource usage, and market conditions. These factors can influence crop yield, production, water efficiency, revenue, and profit. However, it is difficult to understand these variations directly from raw agricultural data. Therefore, this project analyzes the agricultural dataset to compare performance across different seasons and identify important patterns, relationships, and factors affecting agricultural productivity and profitability.</a:t>
            </a:r>
            <a:endParaRPr lang="en-IN" sz="22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504E123-9742-B999-9830-7DDF2F1E4696}"/>
              </a:ext>
            </a:extLst>
          </p:cNvPr>
          <p:cNvSpPr>
            <a:spLocks noGrp="1"/>
          </p:cNvSpPr>
          <p:nvPr>
            <p:ph type="body" sz="quarter" idx="12"/>
          </p:nvPr>
        </p:nvSpPr>
        <p:spPr>
          <a:xfrm>
            <a:off x="660400" y="2044700"/>
            <a:ext cx="5435600" cy="3655060"/>
          </a:xfrm>
        </p:spPr>
        <p:txBody>
          <a:bodyPr>
            <a:normAutofit fontScale="25000" lnSpcReduction="20000"/>
          </a:bodyPr>
          <a:lstStyle/>
          <a:p>
            <a:r>
              <a:rPr lang="en-IN" sz="6400" dirty="0"/>
              <a:t>The main end users of this project are:</a:t>
            </a:r>
          </a:p>
          <a:p>
            <a:pPr lvl="0"/>
            <a:r>
              <a:rPr lang="en-IN" sz="6400" b="1" dirty="0"/>
              <a:t>Farmers</a:t>
            </a:r>
            <a:r>
              <a:rPr lang="en-IN" sz="6400" dirty="0"/>
              <a:t> – To understand crop performance and improve farming decisions. </a:t>
            </a:r>
          </a:p>
          <a:p>
            <a:pPr lvl="0"/>
            <a:r>
              <a:rPr lang="en-IN" sz="6400" b="1" dirty="0"/>
              <a:t>Agricultural Officers</a:t>
            </a:r>
            <a:r>
              <a:rPr lang="en-IN" sz="6400" dirty="0"/>
              <a:t> – To monitor seasonal agricultural performance and provide guidance. </a:t>
            </a:r>
          </a:p>
          <a:p>
            <a:pPr lvl="0"/>
            <a:r>
              <a:rPr lang="en-IN" sz="6400" b="1" dirty="0"/>
              <a:t>Agricultural Researchers</a:t>
            </a:r>
            <a:r>
              <a:rPr lang="en-IN" sz="6400" dirty="0"/>
              <a:t> – To study trends and relationships in agricultural data. </a:t>
            </a:r>
          </a:p>
          <a:p>
            <a:pPr lvl="0"/>
            <a:r>
              <a:rPr lang="en-IN" sz="6400" b="1" dirty="0"/>
              <a:t>Government Departments</a:t>
            </a:r>
            <a:r>
              <a:rPr lang="en-IN" sz="6400" dirty="0"/>
              <a:t> – To support agricultural planning and policy decisions. </a:t>
            </a:r>
          </a:p>
          <a:p>
            <a:pPr lvl="0"/>
            <a:r>
              <a:rPr lang="en-IN" sz="6400" b="1" dirty="0"/>
              <a:t>Agribusiness Companies</a:t>
            </a:r>
            <a:r>
              <a:rPr lang="en-IN" sz="6400" dirty="0"/>
              <a:t> – To understand crop production, profitability, and resource usage.</a:t>
            </a:r>
          </a:p>
          <a:p>
            <a:endParaRPr lang="en-IN" dirty="0"/>
          </a:p>
        </p:txBody>
      </p:sp>
      <p:sp>
        <p:nvSpPr>
          <p:cNvPr id="3" name="Picture Placeholder 2">
            <a:extLst>
              <a:ext uri="{FF2B5EF4-FFF2-40B4-BE49-F238E27FC236}">
                <a16:creationId xmlns:a16="http://schemas.microsoft.com/office/drawing/2014/main" id="{998241A1-C9B0-BF8E-4BA7-F5C160D2E009}"/>
              </a:ext>
            </a:extLst>
          </p:cNvPr>
          <p:cNvSpPr>
            <a:spLocks noGrp="1"/>
          </p:cNvSpPr>
          <p:nvPr>
            <p:ph type="pic" sz="quarter" idx="13"/>
          </p:nvPr>
        </p:nvSpPr>
        <p:spPr/>
      </p:sp>
      <p:sp>
        <p:nvSpPr>
          <p:cNvPr id="4" name="Title 3">
            <a:extLst>
              <a:ext uri="{FF2B5EF4-FFF2-40B4-BE49-F238E27FC236}">
                <a16:creationId xmlns:a16="http://schemas.microsoft.com/office/drawing/2014/main" id="{522CEC2B-5149-6C6A-95D2-9EB0CAFCE965}"/>
              </a:ext>
            </a:extLst>
          </p:cNvPr>
          <p:cNvSpPr>
            <a:spLocks noGrp="1"/>
          </p:cNvSpPr>
          <p:nvPr>
            <p:ph type="title"/>
          </p:nvPr>
        </p:nvSpPr>
        <p:spPr>
          <a:xfrm>
            <a:off x="660400" y="805213"/>
            <a:ext cx="5303520" cy="830997"/>
          </a:xfrm>
        </p:spPr>
        <p:txBody>
          <a:bodyPr>
            <a:noAutofit/>
          </a:bodyPr>
          <a:lstStyle/>
          <a:p>
            <a:r>
              <a:rPr lang="en-IN" sz="3200" dirty="0"/>
              <a:t>WHO ARE THE END USERS?</a:t>
            </a:r>
          </a:p>
        </p:txBody>
      </p:sp>
    </p:spTree>
    <p:extLst>
      <p:ext uri="{BB962C8B-B14F-4D97-AF65-F5344CB8AC3E}">
        <p14:creationId xmlns:p14="http://schemas.microsoft.com/office/powerpoint/2010/main" val="2746595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582149" y="1586736"/>
            <a:ext cx="9027702" cy="5243448"/>
          </a:xfrm>
        </p:spPr>
        <p:txBody>
          <a:bodyPr/>
          <a:lstStyle/>
          <a:p>
            <a:pPr lvl="0"/>
            <a:r>
              <a:rPr lang="en-IN" sz="1800" b="1" dirty="0"/>
              <a:t>Python</a:t>
            </a:r>
            <a:r>
              <a:rPr lang="en-IN" sz="1800" dirty="0"/>
              <a:t> – Programming language used for data analysis. </a:t>
            </a:r>
          </a:p>
          <a:p>
            <a:pPr lvl="0"/>
            <a:r>
              <a:rPr lang="en-IN" sz="1800" b="1" dirty="0"/>
              <a:t>Google </a:t>
            </a:r>
            <a:r>
              <a:rPr lang="en-IN" sz="1800" b="1" dirty="0" err="1"/>
              <a:t>Colab</a:t>
            </a:r>
            <a:r>
              <a:rPr lang="en-IN" sz="1800" dirty="0"/>
              <a:t> – Platform used to write and execute Python code. </a:t>
            </a:r>
          </a:p>
          <a:p>
            <a:pPr lvl="0"/>
            <a:r>
              <a:rPr lang="en-IN" sz="1800" b="1" dirty="0"/>
              <a:t>Pandas</a:t>
            </a:r>
            <a:r>
              <a:rPr lang="en-IN" sz="1800" dirty="0"/>
              <a:t> – Data cleaning and data manipulation. </a:t>
            </a:r>
          </a:p>
          <a:p>
            <a:pPr lvl="0"/>
            <a:r>
              <a:rPr lang="en-IN" sz="1800" b="1" dirty="0"/>
              <a:t>NumPy</a:t>
            </a:r>
            <a:r>
              <a:rPr lang="en-IN" sz="1800" dirty="0"/>
              <a:t> – Numerical calculations. </a:t>
            </a:r>
          </a:p>
          <a:p>
            <a:pPr lvl="0"/>
            <a:r>
              <a:rPr lang="en-IN" sz="1800" b="1" dirty="0"/>
              <a:t>Matplotlib</a:t>
            </a:r>
            <a:r>
              <a:rPr lang="en-IN" sz="1800" dirty="0"/>
              <a:t> – Data visualization. </a:t>
            </a:r>
          </a:p>
          <a:p>
            <a:pPr lvl="0"/>
            <a:r>
              <a:rPr lang="en-IN" sz="1800" b="1" dirty="0"/>
              <a:t>Seaborn</a:t>
            </a:r>
            <a:r>
              <a:rPr lang="en-IN" sz="1800" dirty="0"/>
              <a:t> – Statistical graphs and visualizations. </a:t>
            </a:r>
          </a:p>
          <a:p>
            <a:pPr lvl="0"/>
            <a:r>
              <a:rPr lang="en-IN" sz="1800" b="1" dirty="0"/>
              <a:t>SciPy</a:t>
            </a:r>
            <a:r>
              <a:rPr lang="en-IN" sz="1800" dirty="0"/>
              <a:t> – Statistical analysis and ANOVA testing. </a:t>
            </a:r>
          </a:p>
          <a:p>
            <a:pPr lvl="0"/>
            <a:r>
              <a:rPr lang="en-IN" sz="1800" b="1" dirty="0"/>
              <a:t>CSV Dataset</a:t>
            </a:r>
            <a:r>
              <a:rPr lang="en-IN" sz="1800" dirty="0"/>
              <a:t> – Used as the main agricultural data source.</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vert="horz" lIns="91440" tIns="45720" rIns="91440" bIns="45720" rtlCol="0" anchor="t">
            <a:normAutofit/>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76684553-7D27-E609-D666-C9605BC590AC}"/>
              </a:ext>
            </a:extLst>
          </p:cNvPr>
          <p:cNvPicPr>
            <a:picLocks noChangeAspect="1"/>
          </p:cNvPicPr>
          <p:nvPr/>
        </p:nvPicPr>
        <p:blipFill>
          <a:blip r:embed="rId3"/>
          <a:stretch>
            <a:fillRect/>
          </a:stretch>
        </p:blipFill>
        <p:spPr>
          <a:xfrm>
            <a:off x="627458" y="1294943"/>
            <a:ext cx="8343821" cy="527349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9D2CB21B-497E-E924-0966-749E64A9EE59}"/>
              </a:ext>
            </a:extLst>
          </p:cNvPr>
          <p:cNvPicPr>
            <a:picLocks noChangeAspect="1"/>
          </p:cNvPicPr>
          <p:nvPr/>
        </p:nvPicPr>
        <p:blipFill>
          <a:blip r:embed="rId3"/>
          <a:stretch>
            <a:fillRect/>
          </a:stretch>
        </p:blipFill>
        <p:spPr>
          <a:xfrm>
            <a:off x="475982" y="1431693"/>
            <a:ext cx="8312418" cy="4663844"/>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FB87309C-C31E-ACC1-1EBD-6FAE37912516}"/>
              </a:ext>
            </a:extLst>
          </p:cNvPr>
          <p:cNvPicPr>
            <a:picLocks noChangeAspect="1"/>
          </p:cNvPicPr>
          <p:nvPr/>
        </p:nvPicPr>
        <p:blipFill>
          <a:blip r:embed="rId3"/>
          <a:stretch>
            <a:fillRect/>
          </a:stretch>
        </p:blipFill>
        <p:spPr>
          <a:xfrm>
            <a:off x="675956" y="1431693"/>
            <a:ext cx="8203883" cy="4785775"/>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66729B40-D5FD-F70D-3EB7-BF30BA70A9F6}"/>
              </a:ext>
            </a:extLst>
          </p:cNvPr>
          <p:cNvPicPr>
            <a:picLocks noChangeAspect="1"/>
          </p:cNvPicPr>
          <p:nvPr/>
        </p:nvPicPr>
        <p:blipFill>
          <a:blip r:embed="rId3"/>
          <a:stretch>
            <a:fillRect/>
          </a:stretch>
        </p:blipFill>
        <p:spPr>
          <a:xfrm>
            <a:off x="807164" y="1431693"/>
            <a:ext cx="7889796" cy="4854361"/>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1FFE6E7D-27FB-B10A-EBAD-8DC38FD3BD17}"/>
              </a:ext>
            </a:extLst>
          </p:cNvPr>
          <p:cNvPicPr>
            <a:picLocks noChangeAspect="1"/>
          </p:cNvPicPr>
          <p:nvPr/>
        </p:nvPicPr>
        <p:blipFill>
          <a:blip r:embed="rId3"/>
          <a:stretch>
            <a:fillRect/>
          </a:stretch>
        </p:blipFill>
        <p:spPr>
          <a:xfrm>
            <a:off x="925258" y="1471013"/>
            <a:ext cx="7852982" cy="496867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FE417616-7F0A-2110-663D-4187FFCD31F7}"/>
              </a:ext>
            </a:extLst>
          </p:cNvPr>
          <p:cNvSpPr txBox="1"/>
          <p:nvPr/>
        </p:nvSpPr>
        <p:spPr>
          <a:xfrm>
            <a:off x="718143" y="1473200"/>
            <a:ext cx="5892800" cy="3447098"/>
          </a:xfrm>
          <a:prstGeom prst="rect">
            <a:avLst/>
          </a:prstGeom>
          <a:noFill/>
        </p:spPr>
        <p:txBody>
          <a:bodyPr wrap="square" rtlCol="0">
            <a:spAutoFit/>
          </a:bodyPr>
          <a:lstStyle/>
          <a:p>
            <a:r>
              <a:rPr lang="en-IN" sz="2000" dirty="0"/>
              <a:t>In the future, this project can be improved by using </a:t>
            </a:r>
            <a:r>
              <a:rPr lang="en-IN" sz="2000" b="1" dirty="0"/>
              <a:t>machine learning models</a:t>
            </a:r>
            <a:r>
              <a:rPr lang="en-IN" sz="2000" dirty="0"/>
              <a:t> to predict crop yield and profit. Real-time weather and soil data can be included for better predictions. A </a:t>
            </a:r>
            <a:r>
              <a:rPr lang="en-IN" sz="2000" b="1" dirty="0"/>
              <a:t>farmer-friendly dashboard or mobile application</a:t>
            </a:r>
            <a:r>
              <a:rPr lang="en-IN" sz="2000" dirty="0"/>
              <a:t> can also be developed to provide recommendations on irrigation, fertilizers, pest control, and suitable crops. The system can further be expanded to support </a:t>
            </a:r>
            <a:r>
              <a:rPr lang="en-IN" sz="2000" b="1" dirty="0"/>
              <a:t>real-time monitoring and smart farming decisions</a:t>
            </a:r>
            <a:endParaRPr lang="en-IN" sz="2000" dirty="0"/>
          </a:p>
          <a:p>
            <a:endParaRPr lang="en-IN"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A1A3D3B-CA1E-F0D2-D368-D1AE28AAF605}"/>
              </a:ext>
            </a:extLst>
          </p:cNvPr>
          <p:cNvSpPr txBox="1"/>
          <p:nvPr/>
        </p:nvSpPr>
        <p:spPr>
          <a:xfrm>
            <a:off x="605456" y="1692068"/>
            <a:ext cx="4876800" cy="646331"/>
          </a:xfrm>
          <a:prstGeom prst="rect">
            <a:avLst/>
          </a:prstGeom>
          <a:noFill/>
        </p:spPr>
        <p:txBody>
          <a:bodyPr wrap="square" rtlCol="0">
            <a:spAutoFit/>
          </a:bodyPr>
          <a:lstStyle/>
          <a:p>
            <a:r>
              <a:rPr lang="en-IN" dirty="0"/>
              <a:t>https://github.com/mukeshsenthil/Seasonal-Agriculture-Performance-Analysis.git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E2C81F9-AD4A-15BD-AB72-2C94100C0135}"/>
              </a:ext>
            </a:extLst>
          </p:cNvPr>
          <p:cNvPicPr>
            <a:picLocks noChangeAspect="1"/>
          </p:cNvPicPr>
          <p:nvPr/>
        </p:nvPicPr>
        <p:blipFill>
          <a:blip r:embed="rId3"/>
          <a:stretch>
            <a:fillRect/>
          </a:stretch>
        </p:blipFill>
        <p:spPr>
          <a:xfrm>
            <a:off x="806450" y="1452880"/>
            <a:ext cx="8351388" cy="521208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endParaRPr lang="en-US" sz="4800" b="1" dirty="0">
              <a:solidFill>
                <a:schemeClr val="tx1"/>
              </a:solidFill>
            </a:endParaRP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806263" y="3261618"/>
            <a:ext cx="6707467" cy="1401907"/>
          </a:xfrm>
        </p:spPr>
        <p:txBody>
          <a:bodyPr>
            <a:noAutofit/>
          </a:bodyPr>
          <a:lstStyle/>
          <a:p>
            <a:r>
              <a:rPr lang="en-US" sz="4400" dirty="0">
                <a:solidFill>
                  <a:schemeClr val="tx1"/>
                </a:solidFill>
              </a:rPr>
              <a:t>Thank you</a:t>
            </a:r>
            <a:endParaRPr lang="en-IN" sz="44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608</TotalTime>
  <Words>488</Words>
  <Application>Microsoft Office PowerPoint</Application>
  <PresentationFormat>Widescreen</PresentationFormat>
  <Paragraphs>50</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PowerPoint Presentation</vt:lpstr>
      <vt:lpstr>PROBLEM  STATEMENT</vt:lpstr>
      <vt:lpstr>Project Description  Agricultural performance is affected by seasonal changes in environmental conditions, farming practices, irrigation methods, resource usage, and market conditions. These factors can influence crop yield, production, water efficiency, revenue, and profit. However, it is difficult to understand these variations directly from raw agricultural data. Therefore, this project analyzes the agricultural dataset to compare performance across different seasons and identify important patterns, relationships, and factors affecting agricultural productivity and profitability.</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Mukesh s</cp:lastModifiedBy>
  <cp:revision>100</cp:revision>
  <dcterms:created xsi:type="dcterms:W3CDTF">2021-07-11T13:13:15Z</dcterms:created>
  <dcterms:modified xsi:type="dcterms:W3CDTF">2026-09-09T04:40:53Z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